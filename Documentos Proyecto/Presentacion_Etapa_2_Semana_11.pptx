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7A4A8E-2420-6CA3-345A-B730865D9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4845186-06A2-6B3A-210D-B8B8AAE13F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88F3F0B-3519-E39A-7346-938CB9046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D090C-D836-456F-A55E-931D75A3DB31}" type="datetimeFigureOut">
              <a:rPr lang="es-CL" smtClean="0"/>
              <a:t>21-10-2026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10F680B-9764-255F-9413-2DBFE97B1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A614B4-C654-AA01-E695-23A8E7FB0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8895F-D6D6-4D66-82E9-4E856BD0109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4248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2E4DF2-58CA-972C-3F30-446E3FEA1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4103F2B-10DD-1813-3F75-3F48CB3BB7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4E11BEC-1155-4D6B-D842-92FA13C38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D090C-D836-456F-A55E-931D75A3DB31}" type="datetimeFigureOut">
              <a:rPr lang="es-CL" smtClean="0"/>
              <a:t>21-10-2026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E91CAEF-9063-5009-5808-23CE0290B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74AD953-7C18-0312-8C48-F7E4623FF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8895F-D6D6-4D66-82E9-4E856BD0109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08584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7F1D4C-3689-4EFB-A238-24FEF764B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44A5A68-DEE1-288C-8B63-BA84E5F21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7CAFD39-6410-F968-1E94-B71E34056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D090C-D836-456F-A55E-931D75A3DB31}" type="datetimeFigureOut">
              <a:rPr lang="es-CL" smtClean="0"/>
              <a:t>21-10-2026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2DE6828-F482-C722-1D25-87794F531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686B481-DDB3-42CB-1ED7-95FB206CD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8895F-D6D6-4D66-82E9-4E856BD0109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701109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503372-44B5-EB61-1F05-B9F3AF3B9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03BA8E2-D513-C0F9-312B-C4EA3A5E9A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B302D6F-D670-0CFA-1612-5CFF54B149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0259A6B-E6E3-C371-0F1A-67DDEB1F5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D090C-D836-456F-A55E-931D75A3DB31}" type="datetimeFigureOut">
              <a:rPr lang="es-CL" smtClean="0"/>
              <a:t>21-10-2026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A8BC878-B8CA-1F3D-9EEE-622153356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F79D789-6304-6C53-37CF-7DE3D566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8895F-D6D6-4D66-82E9-4E856BD0109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279799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1A8EC7-D110-D610-EAB0-6B18E4ADA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0A38E50-07AC-2256-F102-52794990C4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2FCB78D-8E41-F498-AE7A-20C7FB882C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F806580-A3C3-F9C7-79C9-C2125D4BEA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CA9D524-A2D7-3F2D-B96E-9064B75D39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0A96DC4-854E-4EE7-0D30-89735A442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D090C-D836-456F-A55E-931D75A3DB31}" type="datetimeFigureOut">
              <a:rPr lang="es-CL" smtClean="0"/>
              <a:t>21-10-2026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5243607-816B-10DE-9E9C-31ED7A1A8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68D247C-2922-CDB2-D128-C31315EE6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8895F-D6D6-4D66-82E9-4E856BD0109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195376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F2EE96-EDAB-5F53-3308-6E720BB96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4A2C0D0-5DF1-A8D6-3151-79A3C2BAE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D090C-D836-456F-A55E-931D75A3DB31}" type="datetimeFigureOut">
              <a:rPr lang="es-CL" smtClean="0"/>
              <a:t>21-10-2026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F319C39-F7D0-C5B5-65E7-1A0C938DC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F088A65-4BE3-773A-51DA-148074532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8895F-D6D6-4D66-82E9-4E856BD0109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17342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C9305D52-3B40-AD2F-D746-59B6A67C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D090C-D836-456F-A55E-931D75A3DB31}" type="datetimeFigureOut">
              <a:rPr lang="es-CL" smtClean="0"/>
              <a:t>21-10-2026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D87F4A7-01E9-849B-5A02-4F46377BC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7A31DF-969A-ED18-5693-E53BCAD4D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8895F-D6D6-4D66-82E9-4E856BD0109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86306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F2E880-2606-DC0C-67CD-D50517FA9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3B817A8-1A2D-56CF-A4A4-0D28B82B1E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79A8073-FA36-4ADE-5E9E-68903D4724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BF43CCA-8A1D-57D8-9167-8BF8F4FA2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D090C-D836-456F-A55E-931D75A3DB31}" type="datetimeFigureOut">
              <a:rPr lang="es-CL" smtClean="0"/>
              <a:t>21-10-2026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19D8245-E50C-CB63-4BB0-D3FD61973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87B163D-3DCF-28B8-2E25-CEB81480A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8895F-D6D6-4D66-82E9-4E856BD0109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80107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551A47-C5F4-1E9D-0EA7-0CA86495B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17A3AFC-E385-BF0C-EC71-7A3C6921213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17904CD-3296-3F52-21F3-D44486F1B8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FABD289-2847-52A8-670C-57F437334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D090C-D836-456F-A55E-931D75A3DB31}" type="datetimeFigureOut">
              <a:rPr lang="es-CL" smtClean="0"/>
              <a:t>21-10-2026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75FFCAB-9CF2-4A1A-5132-34768F738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2E6761F-F760-A3BA-699E-FAE602C64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8895F-D6D6-4D66-82E9-4E856BD0109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248061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38A35F-A77E-8884-E31A-39ED63EA7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BE44CB5-F6CA-7E09-0670-F541092403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AAFDE4F-3148-6997-1F76-1A16A3C49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D090C-D836-456F-A55E-931D75A3DB31}" type="datetimeFigureOut">
              <a:rPr lang="es-CL" smtClean="0"/>
              <a:t>21-10-2026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75CCE60-1E17-5D78-0AA1-377AA7D8C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300AC1-57A8-F959-D43E-5753E6F7A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8895F-D6D6-4D66-82E9-4E856BD0109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323963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F39547A-D9E6-CF6A-5029-3E85ED2D6D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280AAC6-F1B2-5075-B16F-283032BDDE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692075E-3232-AEF7-FD9A-89303B47E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D090C-D836-456F-A55E-931D75A3DB31}" type="datetimeFigureOut">
              <a:rPr lang="es-CL" smtClean="0"/>
              <a:t>21-10-2026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C274483-F704-675E-24FE-1E8825920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D14451-6849-9346-1411-086DEF5FA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8895F-D6D6-4D66-82E9-4E856BD0109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53167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6DCE3C5-E0DB-211D-2601-0A566042E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2355588-863C-CA83-E327-98AB70A8B8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202154E-E57A-8331-916A-530575EF4F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AD090C-D836-456F-A55E-931D75A3DB31}" type="datetimeFigureOut">
              <a:rPr lang="es-CL" smtClean="0"/>
              <a:t>21-10-2026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431956F-299D-4548-10D8-FC72AAEC38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144AA0D-2220-072E-DBE9-9CE1229B2B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A8895F-D6D6-4D66-82E9-4E856BD0109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061680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4983CFFA-EEAF-C816-FCF8-E6E854F4286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86D0046-0DEB-2A50-0715-D2C737D31CD1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00D2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1D8064A-736F-19B4-73D9-01C97427BD65}"/>
              </a:ext>
            </a:extLst>
          </p:cNvPr>
          <p:cNvSpPr/>
          <p:nvPr/>
        </p:nvSpPr>
        <p:spPr>
          <a:xfrm>
            <a:off x="635000" y="635000"/>
            <a:ext cx="10922000" cy="5588000"/>
          </a:xfrm>
          <a:prstGeom prst="rect">
            <a:avLst/>
          </a:prstGeom>
          <a:solidFill>
            <a:srgbClr val="1A1A2E"/>
          </a:solidFill>
          <a:ln>
            <a:solidFill>
              <a:srgbClr val="2A2A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426A2A6-89B7-8DB5-08B4-D659B92F5408}"/>
              </a:ext>
            </a:extLst>
          </p:cNvPr>
          <p:cNvSpPr txBox="1"/>
          <p:nvPr/>
        </p:nvSpPr>
        <p:spPr>
          <a:xfrm>
            <a:off x="1016000" y="952500"/>
            <a:ext cx="10160000" cy="5232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CL" sz="2800" b="1">
                <a:solidFill>
                  <a:srgbClr val="00D2FF"/>
                </a:solidFill>
                <a:latin typeface="Segoe UI" panose="020B0502040204020203" pitchFamily="34" charset="0"/>
              </a:rPr>
              <a:t>SISTEMA DE CONTROL DE ASISTENCIA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765A762-1805-6269-287B-A38036495868}"/>
              </a:ext>
            </a:extLst>
          </p:cNvPr>
          <p:cNvSpPr txBox="1"/>
          <p:nvPr/>
        </p:nvSpPr>
        <p:spPr>
          <a:xfrm>
            <a:off x="1016000" y="1651000"/>
            <a:ext cx="10160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1600" b="1">
                <a:solidFill>
                  <a:srgbClr val="FFFFFF"/>
                </a:solidFill>
                <a:latin typeface="Segoe UI" panose="020B0502040204020203" pitchFamily="34" charset="0"/>
              </a:rPr>
              <a:t>Evaluación Práctica Etapa 2 - Continuidad Operacional (Semana 11)</a:t>
            </a:r>
            <a:endParaRPr lang="es-CL" sz="16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6FA31E1-BFBC-638A-443F-FEF350AC65E7}"/>
              </a:ext>
            </a:extLst>
          </p:cNvPr>
          <p:cNvSpPr/>
          <p:nvPr/>
        </p:nvSpPr>
        <p:spPr>
          <a:xfrm>
            <a:off x="1016000" y="2222500"/>
            <a:ext cx="10160000" cy="25400"/>
          </a:xfrm>
          <a:prstGeom prst="rect">
            <a:avLst/>
          </a:prstGeom>
          <a:solidFill>
            <a:srgbClr val="2A2A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5BA8D76-5A1B-F9A3-CD25-72E46848329C}"/>
              </a:ext>
            </a:extLst>
          </p:cNvPr>
          <p:cNvSpPr txBox="1"/>
          <p:nvPr/>
        </p:nvSpPr>
        <p:spPr>
          <a:xfrm>
            <a:off x="1016000" y="2476500"/>
            <a:ext cx="48260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1350">
                <a:solidFill>
                  <a:srgbClr val="8892B0"/>
                </a:solidFill>
                <a:latin typeface="Segoe UI" panose="020B0502040204020203" pitchFamily="34" charset="0"/>
              </a:rPr>
              <a:t>• Asignatura: Taller de Integración de Competencias II (IEI-094)
• Institución: Instituto Profesional Santo Tomás
• Fecha: Semana 11 / Octubre 2026
</a:t>
            </a:r>
            <a:endParaRPr lang="es-CL" sz="1350">
              <a:solidFill>
                <a:srgbClr val="8892B0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3A8FF83-3A18-76A2-8B4F-AE6C01968877}"/>
              </a:ext>
            </a:extLst>
          </p:cNvPr>
          <p:cNvSpPr txBox="1"/>
          <p:nvPr/>
        </p:nvSpPr>
        <p:spPr>
          <a:xfrm>
            <a:off x="6096000" y="2476500"/>
            <a:ext cx="5207000" cy="18235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1250">
                <a:solidFill>
                  <a:srgbClr val="FFFFFF"/>
                </a:solidFill>
                <a:latin typeface="Segoe UI" panose="020B0502040204020203" pitchFamily="34" charset="0"/>
              </a:rPr>
              <a:t>Equipo de Desarrollo:
• Fabián Mora - Infraestructura, BD SQLite y Continuidad Operacional
• Agustín Cañas - Desarrollo Frontend WPF MVVM y Lógica de Negocio
• Paul Ferrada - Validación QA, Pruebas xUnit y Exportación Ofimática
</a:t>
            </a:r>
            <a:endParaRPr lang="es-CL" sz="12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4616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AE7DF633-69CE-3743-3386-85B031A3D1E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872524B-FB74-447B-4F56-284ADC3604D9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D2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8DFA1F8-519C-34A0-9548-3D6E16960FC5}"/>
              </a:ext>
            </a:extLst>
          </p:cNvPr>
          <p:cNvSpPr/>
          <p:nvPr/>
        </p:nvSpPr>
        <p:spPr>
          <a:xfrm>
            <a:off x="508000" y="304800"/>
            <a:ext cx="76200" cy="533400"/>
          </a:xfrm>
          <a:prstGeom prst="rect">
            <a:avLst/>
          </a:prstGeom>
          <a:solidFill>
            <a:srgbClr val="00D2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B4A49EE-AF45-86D7-C2B4-FEBFF973DB7D}"/>
              </a:ext>
            </a:extLst>
          </p:cNvPr>
          <p:cNvSpPr txBox="1"/>
          <p:nvPr/>
        </p:nvSpPr>
        <p:spPr>
          <a:xfrm>
            <a:off x="698500" y="228600"/>
            <a:ext cx="10922000" cy="4154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CL" sz="2100" b="1">
                <a:solidFill>
                  <a:srgbClr val="FFFFFF"/>
                </a:solidFill>
                <a:latin typeface="Segoe UI" panose="020B0502040204020203" pitchFamily="34" charset="0"/>
              </a:rPr>
              <a:t>1. Contexto Empresarial y Continuidad Operacional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D14FE14-C90F-2BDC-74CF-70E4B5AE56D0}"/>
              </a:ext>
            </a:extLst>
          </p:cNvPr>
          <p:cNvSpPr txBox="1"/>
          <p:nvPr/>
        </p:nvSpPr>
        <p:spPr>
          <a:xfrm>
            <a:off x="698500" y="609600"/>
            <a:ext cx="10922000" cy="26930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150">
                <a:solidFill>
                  <a:srgbClr val="00D2FF"/>
                </a:solidFill>
                <a:latin typeface="Segoe UI" panose="020B0502040204020203" pitchFamily="34" charset="0"/>
              </a:rPr>
              <a:t>Caso de Aplicación: Empresa de productos químicos (25 trabajadores)</a:t>
            </a:r>
            <a:endParaRPr lang="es-CL" sz="1150">
              <a:solidFill>
                <a:srgbClr val="00D2FF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5607F3F-6848-42EE-067D-677A5B9432ED}"/>
              </a:ext>
            </a:extLst>
          </p:cNvPr>
          <p:cNvSpPr/>
          <p:nvPr/>
        </p:nvSpPr>
        <p:spPr>
          <a:xfrm>
            <a:off x="635000" y="1143000"/>
            <a:ext cx="5270500" cy="5207000"/>
          </a:xfrm>
          <a:prstGeom prst="rect">
            <a:avLst/>
          </a:prstGeom>
          <a:solidFill>
            <a:srgbClr val="1A1A2E"/>
          </a:solidFill>
          <a:ln>
            <a:solidFill>
              <a:srgbClr val="2A2A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7F9C114-7E8B-43F1-BC48-FF9CBF76B9C5}"/>
              </a:ext>
            </a:extLst>
          </p:cNvPr>
          <p:cNvSpPr txBox="1"/>
          <p:nvPr/>
        </p:nvSpPr>
        <p:spPr>
          <a:xfrm>
            <a:off x="889000" y="1333500"/>
            <a:ext cx="4762500" cy="34163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1200">
                <a:solidFill>
                  <a:srgbClr val="FFFFFF"/>
                </a:solidFill>
                <a:latin typeface="Segoe UI" panose="020B0502040204020203" pitchFamily="34" charset="0"/>
              </a:rPr>
              <a:t>REQUERIMIENTOS DEL CLIENTE
• Dotación: 25 colaboradores con necesidad de marcaje expedito de entrada y salida.
• Normativa Laboral: Cumplimiento legal de registro fidedigno de jornada de trabajo.
• Reportería para RRHH: Detección automática de atrasos (&gt; 9:30 AM), salidas anticipadas (&lt; 17:30 PM) e inasistencias.
• Integración con Ofimática: Exportación de planillas compatibles con Microsoft Excel para liquidaciones.
• Resiliencia: Operatividad garantizada aun ante interrupciones de conectividad externa.
</a:t>
            </a:r>
            <a:endParaRPr lang="es-CL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B64CCD59-A44A-2CB2-F577-61BBAC78F4D9}"/>
              </a:ext>
            </a:extLst>
          </p:cNvPr>
          <p:cNvSpPr/>
          <p:nvPr/>
        </p:nvSpPr>
        <p:spPr>
          <a:xfrm>
            <a:off x="6286500" y="1143000"/>
            <a:ext cx="5270500" cy="5207000"/>
          </a:xfrm>
          <a:prstGeom prst="rect">
            <a:avLst/>
          </a:prstGeom>
          <a:solidFill>
            <a:srgbClr val="1A1A2E"/>
          </a:solidFill>
          <a:ln>
            <a:solidFill>
              <a:srgbClr val="2A2A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3AC0E44F-68C4-5CB4-9603-6E08995B97CA}"/>
              </a:ext>
            </a:extLst>
          </p:cNvPr>
          <p:cNvSpPr txBox="1"/>
          <p:nvPr/>
        </p:nvSpPr>
        <p:spPr>
          <a:xfrm>
            <a:off x="6540500" y="1333500"/>
            <a:ext cx="4762500" cy="34163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1200">
                <a:solidFill>
                  <a:srgbClr val="FFFFFF"/>
                </a:solidFill>
                <a:latin typeface="Segoe UI" panose="020B0502040204020203" pitchFamily="34" charset="0"/>
              </a:rPr>
              <a:t>GARANTÍA DE CONTINUIDAD (CE3N2)
• SO Estandarizado: Windows 10/11 Pro 64-bit con runtime .NET 10 verificado.
• Persistencia Local SQLite: Motor relacional embebido local, libre de caídas de red y latencias.
• Seguridad de Credenciales: Contraseñas cifradas con algoritmo unidireccional BCrypt.
• Manejo Global de Errores: Captura de excepciones no controladas con registro en crash.log.
• Sincronización Horaria: Reloj local sincronizado por protocolo NTP para registros inalterables.
</a:t>
            </a:r>
            <a:endParaRPr lang="es-CL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0471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5031738A-6FA5-4E5D-21CC-B5FD6E36895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7D18BEF-FF4B-F548-118A-71118B481C6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D2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3CBC24F-58E6-9630-67A6-3948D2761C4E}"/>
              </a:ext>
            </a:extLst>
          </p:cNvPr>
          <p:cNvSpPr/>
          <p:nvPr/>
        </p:nvSpPr>
        <p:spPr>
          <a:xfrm>
            <a:off x="508000" y="304800"/>
            <a:ext cx="76200" cy="533400"/>
          </a:xfrm>
          <a:prstGeom prst="rect">
            <a:avLst/>
          </a:prstGeom>
          <a:solidFill>
            <a:srgbClr val="00D2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5087B0B-4035-3CA7-02F8-E919E35BD53F}"/>
              </a:ext>
            </a:extLst>
          </p:cNvPr>
          <p:cNvSpPr txBox="1"/>
          <p:nvPr/>
        </p:nvSpPr>
        <p:spPr>
          <a:xfrm>
            <a:off x="698500" y="228600"/>
            <a:ext cx="10922000" cy="4154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2100" b="1">
                <a:solidFill>
                  <a:srgbClr val="FFFFFF"/>
                </a:solidFill>
                <a:latin typeface="Segoe UI" panose="020B0502040204020203" pitchFamily="34" charset="0"/>
              </a:rPr>
              <a:t>2. Carta Gantt de la Planificación (Actividad 2.2)</a:t>
            </a:r>
            <a:endParaRPr lang="es-CL" sz="21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2C409AB-2696-589B-0832-59ED30FA740C}"/>
              </a:ext>
            </a:extLst>
          </p:cNvPr>
          <p:cNvSpPr txBox="1"/>
          <p:nvPr/>
        </p:nvSpPr>
        <p:spPr>
          <a:xfrm>
            <a:off x="698500" y="609600"/>
            <a:ext cx="10922000" cy="26930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150">
                <a:solidFill>
                  <a:srgbClr val="00D2FF"/>
                </a:solidFill>
                <a:latin typeface="Segoe UI" panose="020B0502040204020203" pitchFamily="34" charset="0"/>
              </a:rPr>
              <a:t>Cronograma de ejecución de actividades 2.2 a 2.6 y distribución de responsabilidades</a:t>
            </a:r>
            <a:endParaRPr lang="es-CL" sz="1150">
              <a:solidFill>
                <a:srgbClr val="00D2FF"/>
              </a:solidFill>
              <a:latin typeface="Segoe UI" panose="020B0502040204020203" pitchFamily="34" charset="0"/>
            </a:endParaRPr>
          </a:p>
        </p:txBody>
      </p:sp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81990D4B-DD5A-6966-F61F-6D8BA906B2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8941773"/>
              </p:ext>
            </p:extLst>
          </p:nvPr>
        </p:nvGraphicFramePr>
        <p:xfrm>
          <a:off x="635000" y="1206500"/>
          <a:ext cx="10922000" cy="501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333">
                  <a:extLst>
                    <a:ext uri="{9D8B030D-6E8A-4147-A177-3AD203B41FA5}">
                      <a16:colId xmlns:a16="http://schemas.microsoft.com/office/drawing/2014/main" val="584075803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1912443238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636760165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1800392034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718888393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2419231022"/>
                    </a:ext>
                  </a:extLst>
                </a:gridCol>
              </a:tblGrid>
              <a:tr h="836083">
                <a:tc>
                  <a:txBody>
                    <a:bodyPr/>
                    <a:lstStyle/>
                    <a:p>
                      <a:r>
                        <a:rPr lang="es-CL" sz="1150" b="1">
                          <a:solidFill>
                            <a:srgbClr val="00D2FF"/>
                          </a:solidFill>
                          <a:latin typeface="Segoe UI" panose="020B0502040204020203" pitchFamily="34" charset="0"/>
                        </a:rPr>
                        <a:t>Fase / Actividad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 b="1">
                          <a:solidFill>
                            <a:srgbClr val="00D2FF"/>
                          </a:solidFill>
                          <a:latin typeface="Segoe UI" panose="020B0502040204020203" pitchFamily="34" charset="0"/>
                        </a:rPr>
                        <a:t>Semana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 b="1">
                          <a:solidFill>
                            <a:srgbClr val="00D2FF"/>
                          </a:solidFill>
                          <a:latin typeface="Segoe UI" panose="020B0502040204020203" pitchFamily="34" charset="0"/>
                        </a:rPr>
                        <a:t>Duración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 b="1">
                          <a:solidFill>
                            <a:srgbClr val="00D2FF"/>
                          </a:solidFill>
                          <a:latin typeface="Segoe UI" panose="020B0502040204020203" pitchFamily="34" charset="0"/>
                        </a:rPr>
                        <a:t>Entregable Principal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 b="1">
                          <a:solidFill>
                            <a:srgbClr val="00D2FF"/>
                          </a:solidFill>
                          <a:latin typeface="Segoe UI" panose="020B0502040204020203" pitchFamily="34" charset="0"/>
                        </a:rPr>
                        <a:t>Responsable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 b="1">
                          <a:solidFill>
                            <a:srgbClr val="00D2FF"/>
                          </a:solidFill>
                          <a:latin typeface="Segoe UI" panose="020B0502040204020203" pitchFamily="34" charset="0"/>
                        </a:rPr>
                        <a:t>Estado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5524024"/>
                  </a:ext>
                </a:extLst>
              </a:tr>
              <a:tr h="836083">
                <a:tc>
                  <a:txBody>
                    <a:bodyPr/>
                    <a:lstStyle/>
                    <a:p>
                      <a:r>
                        <a:rPr lang="es-MX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Actividad 2.2: Planificación e Inventario</a:t>
                      </a:r>
                      <a:endParaRPr lang="es-CL" sz="1100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Semana 7-8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7 días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Catastro de Recursos y Matriz de Riesgos</a:t>
                      </a:r>
                      <a:endParaRPr lang="es-CL" sz="1100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Fabián Mora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100% Conforme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2385178"/>
                  </a:ext>
                </a:extLst>
              </a:tr>
              <a:tr h="836083">
                <a:tc>
                  <a:txBody>
                    <a:bodyPr/>
                    <a:lstStyle/>
                    <a:p>
                      <a:r>
                        <a:rPr lang="es-MX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Actividad 2.3: Manual de Instalación y SO</a:t>
                      </a:r>
                      <a:endParaRPr lang="es-CL" sz="1100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Semana 9</a:t>
                      </a: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4 días</a:t>
                      </a: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Manual Técnico de Despliegue y Configuración</a:t>
                      </a:r>
                      <a:endParaRPr lang="es-CL" sz="1100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Fabián Mora</a:t>
                      </a: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100% Conforme</a:t>
                      </a:r>
                    </a:p>
                  </a:txBody>
                  <a:tcPr>
                    <a:solidFill>
                      <a:srgbClr val="1616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8146342"/>
                  </a:ext>
                </a:extLst>
              </a:tr>
              <a:tr h="836083"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Actividad 2.4: Bitácora de Despliegue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Semana 9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3 días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Registro de Procedimientos Técnicos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Paul Ferrada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100% Conforme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6894809"/>
                  </a:ext>
                </a:extLst>
              </a:tr>
              <a:tr h="836083">
                <a:tc>
                  <a:txBody>
                    <a:bodyPr/>
                    <a:lstStyle/>
                    <a:p>
                      <a:r>
                        <a:rPr lang="es-MX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Actividad 2.5: Validación y Pruebas xUnit</a:t>
                      </a:r>
                      <a:endParaRPr lang="es-CL" sz="1100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Semana 10</a:t>
                      </a: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5 días</a:t>
                      </a: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19 Pruebas Unitarias y Módulo Ofimática</a:t>
                      </a:r>
                      <a:endParaRPr lang="es-CL" sz="1100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Paul Ferrada</a:t>
                      </a: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100% Conforme</a:t>
                      </a:r>
                    </a:p>
                  </a:txBody>
                  <a:tcPr>
                    <a:solidFill>
                      <a:srgbClr val="1616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1160748"/>
                  </a:ext>
                </a:extLst>
              </a:tr>
              <a:tr h="836083">
                <a:tc>
                  <a:txBody>
                    <a:bodyPr/>
                    <a:lstStyle/>
                    <a:p>
                      <a:r>
                        <a:rPr lang="es-MX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Actividad 2.6: Lista de Chequeo y Video</a:t>
                      </a:r>
                      <a:endParaRPr lang="es-CL" sz="1100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Semana 11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4 días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Checklist Operacional, Video Tutorial y PPT</a:t>
                      </a:r>
                      <a:endParaRPr lang="es-CL" sz="1100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Equipo Completo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100% Conforme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2740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1085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72C7A3F-381C-A10A-6E4E-DE836A33BAA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B6E2E5B-0E6A-72B3-5711-770EE91F2E03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D2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6E678487-01E3-5E5D-026F-4ED8DA4DC835}"/>
              </a:ext>
            </a:extLst>
          </p:cNvPr>
          <p:cNvSpPr/>
          <p:nvPr/>
        </p:nvSpPr>
        <p:spPr>
          <a:xfrm>
            <a:off x="508000" y="304800"/>
            <a:ext cx="76200" cy="533400"/>
          </a:xfrm>
          <a:prstGeom prst="rect">
            <a:avLst/>
          </a:prstGeom>
          <a:solidFill>
            <a:srgbClr val="00D2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9E31216-F93B-A9D7-8FC4-961F458F6F21}"/>
              </a:ext>
            </a:extLst>
          </p:cNvPr>
          <p:cNvSpPr txBox="1"/>
          <p:nvPr/>
        </p:nvSpPr>
        <p:spPr>
          <a:xfrm>
            <a:off x="698500" y="228600"/>
            <a:ext cx="10922000" cy="4154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2100" b="1">
                <a:solidFill>
                  <a:srgbClr val="FFFFFF"/>
                </a:solidFill>
                <a:latin typeface="Segoe UI" panose="020B0502040204020203" pitchFamily="34" charset="0"/>
              </a:rPr>
              <a:t>3. Instalación y Configuración del Entorno (Actividad 2.3)</a:t>
            </a:r>
            <a:endParaRPr lang="es-CL" sz="21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9C12CA6-1073-F98B-67C5-4DC9F85F7D32}"/>
              </a:ext>
            </a:extLst>
          </p:cNvPr>
          <p:cNvSpPr txBox="1"/>
          <p:nvPr/>
        </p:nvSpPr>
        <p:spPr>
          <a:xfrm>
            <a:off x="698500" y="609600"/>
            <a:ext cx="10922000" cy="26930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150">
                <a:solidFill>
                  <a:srgbClr val="00D2FF"/>
                </a:solidFill>
                <a:latin typeface="Segoe UI" panose="020B0502040204020203" pitchFamily="34" charset="0"/>
              </a:rPr>
              <a:t>Estandarización técnica para asegurar la compatibilidad y continuidad operacional</a:t>
            </a:r>
            <a:endParaRPr lang="es-CL" sz="1150">
              <a:solidFill>
                <a:srgbClr val="00D2FF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307530F-BE11-4972-1E96-BB793BDC59FB}"/>
              </a:ext>
            </a:extLst>
          </p:cNvPr>
          <p:cNvSpPr/>
          <p:nvPr/>
        </p:nvSpPr>
        <p:spPr>
          <a:xfrm>
            <a:off x="635000" y="1143000"/>
            <a:ext cx="3467100" cy="5207000"/>
          </a:xfrm>
          <a:prstGeom prst="rect">
            <a:avLst/>
          </a:prstGeom>
          <a:solidFill>
            <a:srgbClr val="1A1A2E"/>
          </a:solidFill>
          <a:ln>
            <a:solidFill>
              <a:srgbClr val="2A2A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099BBA2-3BD6-E6E8-A76C-0C557F53E1CB}"/>
              </a:ext>
            </a:extLst>
          </p:cNvPr>
          <p:cNvSpPr txBox="1"/>
          <p:nvPr/>
        </p:nvSpPr>
        <p:spPr>
          <a:xfrm>
            <a:off x="825500" y="1333500"/>
            <a:ext cx="3086100" cy="274690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CL" sz="1150">
                <a:solidFill>
                  <a:srgbClr val="FFFFFF"/>
                </a:solidFill>
                <a:latin typeface="Segoe UI" panose="020B0502040204020203" pitchFamily="34" charset="0"/>
              </a:rPr>
              <a:t>SISTEMA OPERATIVO Y RUNTIME
• SO: Windows 11 / Windows 10 Pro 64-bit.
• Runtime: .NET 10 Desktop Runtime (x64) verificado con dotnet --list-runtimes.
• Permisos: Lectura y escritura NTFS en el directorio de ejecución de la aplicación.
• Resolución: Optimizado para 1080p (1920x1080) con escalado DPI al 100% sin distorsión.
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2FDB6528-2DD3-91F1-58C9-D018047C7C56}"/>
              </a:ext>
            </a:extLst>
          </p:cNvPr>
          <p:cNvSpPr/>
          <p:nvPr/>
        </p:nvSpPr>
        <p:spPr>
          <a:xfrm>
            <a:off x="4356100" y="1143000"/>
            <a:ext cx="3467100" cy="5207000"/>
          </a:xfrm>
          <a:prstGeom prst="rect">
            <a:avLst/>
          </a:prstGeom>
          <a:solidFill>
            <a:srgbClr val="1A1A2E"/>
          </a:solidFill>
          <a:ln>
            <a:solidFill>
              <a:srgbClr val="2A2A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E36B8EE-44CE-DB63-0B52-2EAE2F64E384}"/>
              </a:ext>
            </a:extLst>
          </p:cNvPr>
          <p:cNvSpPr txBox="1"/>
          <p:nvPr/>
        </p:nvSpPr>
        <p:spPr>
          <a:xfrm>
            <a:off x="4546600" y="1333500"/>
            <a:ext cx="3086100" cy="345479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1150">
                <a:solidFill>
                  <a:srgbClr val="FFFFFF"/>
                </a:solidFill>
                <a:latin typeface="Segoe UI" panose="020B0502040204020203" pitchFamily="34" charset="0"/>
              </a:rPr>
              <a:t>BASE DE DATOS Y PERSISTENCIA
• Motor: SQLite 3 relacional embebido local (asistencia.db).
• ORM: Entity Framework Core 10 con consultas LINQ optimizadas.
• Inicializador: DatabaseInitializer genera tablas e índices automáticamente.
• Usuario Semilla: Cuenta admin@empresa.cl creada en primer arranque con clave BCrypt.
• Integridad: Restricción compuesta que bloquea marcajes duplicados en el mismo día.
</a:t>
            </a:r>
            <a:endParaRPr lang="es-CL" sz="11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E0817A4-FB6B-17B9-4564-3B7031716436}"/>
              </a:ext>
            </a:extLst>
          </p:cNvPr>
          <p:cNvSpPr/>
          <p:nvPr/>
        </p:nvSpPr>
        <p:spPr>
          <a:xfrm>
            <a:off x="8077200" y="1143000"/>
            <a:ext cx="3467100" cy="5207000"/>
          </a:xfrm>
          <a:prstGeom prst="rect">
            <a:avLst/>
          </a:prstGeom>
          <a:solidFill>
            <a:srgbClr val="1A1A2E"/>
          </a:solidFill>
          <a:ln>
            <a:solidFill>
              <a:srgbClr val="2A2A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2EA5651-68C7-596B-2194-C7999198C8E4}"/>
              </a:ext>
            </a:extLst>
          </p:cNvPr>
          <p:cNvSpPr txBox="1"/>
          <p:nvPr/>
        </p:nvSpPr>
        <p:spPr>
          <a:xfrm>
            <a:off x="8267700" y="1333500"/>
            <a:ext cx="3086100" cy="29238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1150">
                <a:solidFill>
                  <a:srgbClr val="FFFFFF"/>
                </a:solidFill>
                <a:latin typeface="Segoe UI" panose="020B0502040204020203" pitchFamily="34" charset="0"/>
              </a:rPr>
              <a:t>INTEGRACIÓN CON OFIMÁTICA
• Servicio Especializado: ExportService para generación de planillas tabulares.
• Codificación: UTF-8 con BOM (Byte Order Mark) para apertura transparente en Microsoft Excel.
• Delimitador: Punto y coma (;) estándar para configuraciones regionales en español.
• Funcionalidad: Exportación de atrasos, salidas e inasistencias en 1 clic.
</a:t>
            </a:r>
            <a:endParaRPr lang="es-CL" sz="11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75097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0C632E0C-1699-E339-1854-1DFFBDFA8BD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4C64A31-5A53-97B3-F1A9-D817E0EB9566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D2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3AE3B8B-422F-3DFF-7DA7-1DB5296F2A96}"/>
              </a:ext>
            </a:extLst>
          </p:cNvPr>
          <p:cNvSpPr/>
          <p:nvPr/>
        </p:nvSpPr>
        <p:spPr>
          <a:xfrm>
            <a:off x="508000" y="304800"/>
            <a:ext cx="76200" cy="533400"/>
          </a:xfrm>
          <a:prstGeom prst="rect">
            <a:avLst/>
          </a:prstGeom>
          <a:solidFill>
            <a:srgbClr val="00D2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2B72E7B-1C6D-589E-4707-E2ABD2C33046}"/>
              </a:ext>
            </a:extLst>
          </p:cNvPr>
          <p:cNvSpPr txBox="1"/>
          <p:nvPr/>
        </p:nvSpPr>
        <p:spPr>
          <a:xfrm>
            <a:off x="698500" y="228600"/>
            <a:ext cx="10922000" cy="4154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2100" b="1">
                <a:solidFill>
                  <a:srgbClr val="FFFFFF"/>
                </a:solidFill>
                <a:latin typeface="Segoe UI" panose="020B0502040204020203" pitchFamily="34" charset="0"/>
              </a:rPr>
              <a:t>4. Video Tutorial del Proceso de Instalación y Validación</a:t>
            </a:r>
            <a:endParaRPr lang="es-CL" sz="21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6A833F-D254-AA40-E1C3-6A1E73B7AB6B}"/>
              </a:ext>
            </a:extLst>
          </p:cNvPr>
          <p:cNvSpPr txBox="1"/>
          <p:nvPr/>
        </p:nvSpPr>
        <p:spPr>
          <a:xfrm>
            <a:off x="698500" y="609600"/>
            <a:ext cx="10922000" cy="26930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150">
                <a:solidFill>
                  <a:srgbClr val="00D2FF"/>
                </a:solidFill>
                <a:latin typeface="Segoe UI" panose="020B0502040204020203" pitchFamily="34" charset="0"/>
              </a:rPr>
              <a:t>Demostración audiovisual del computador operativo, despliegue y funcionamiento</a:t>
            </a:r>
            <a:endParaRPr lang="es-CL" sz="1150">
              <a:solidFill>
                <a:srgbClr val="00D2FF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627E340-888C-6F5F-FAD4-2FC51F5117A0}"/>
              </a:ext>
            </a:extLst>
          </p:cNvPr>
          <p:cNvSpPr/>
          <p:nvPr/>
        </p:nvSpPr>
        <p:spPr>
          <a:xfrm>
            <a:off x="635000" y="1143000"/>
            <a:ext cx="10922000" cy="5207000"/>
          </a:xfrm>
          <a:prstGeom prst="rect">
            <a:avLst/>
          </a:prstGeom>
          <a:solidFill>
            <a:srgbClr val="1A1A2E"/>
          </a:solidFill>
          <a:ln>
            <a:solidFill>
              <a:srgbClr val="2A2A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D50D361-8AF0-9766-C2EC-5F3118F96377}"/>
              </a:ext>
            </a:extLst>
          </p:cNvPr>
          <p:cNvSpPr txBox="1"/>
          <p:nvPr/>
        </p:nvSpPr>
        <p:spPr>
          <a:xfrm>
            <a:off x="952500" y="1333500"/>
            <a:ext cx="10287000" cy="32778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1150">
                <a:solidFill>
                  <a:srgbClr val="FFFFFF"/>
                </a:solidFill>
                <a:latin typeface="Segoe UI" panose="020B0502040204020203" pitchFamily="34" charset="0"/>
              </a:rPr>
              <a:t>ENLACE DIRECTO AL VIDEO TUTORIAL (AULA VIRTUAL / YOUTUBE / DRIVE):
https://youtu.be/ejemplo-enlace-video-asistencia (Reemplazar con enlace final de grabación)
ESTRUCTURA DEL VIDEO DEMOSTRATIVO (TIPO TUTORIAL):
• Min 00:00 - 01:15 (Fabián Mora): Presentación del equipo, contexto del caso empresarial y comprobación del computador operativo con Windows 11.
• Min 01:15 - 02:45 (Fabián Mora): Proceso de instalación de .NET 10 Desktop Runtime, permisos NTFS e inicialización de base de datos SQLite.
• Min 02:45 - 05:30 (Agustín Cañas): Demostración en vivo de la aplicación: Login admin/empleado, marcaje de asistencia, bloqueo de doble entrada y gestión de usuarios CRUD.
• Min 05:30 - 07:15 (Paul Ferrada): Generación de reportes con filtros automáticos (atrasos &gt; 9:30 AM, salidas &lt; 17:30 PM, inasistencias) y exportación directa a Microsoft Excel.
• Min 07:15 - 08:30 (Paul Ferrada y Equipo): Ejecución en consola de 19 pruebas unitarias automatizadas (dotnet test) y cierre con sello valórico Tomista.
</a:t>
            </a:r>
            <a:endParaRPr lang="es-CL" sz="11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60404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D77A35E8-8D9E-FEA2-48DA-864B1939F31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C29D8D3-903F-3FF5-3B93-5C302C7FF6B7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D2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2046764-0DD3-E2EB-CEA2-3D6062792C87}"/>
              </a:ext>
            </a:extLst>
          </p:cNvPr>
          <p:cNvSpPr/>
          <p:nvPr/>
        </p:nvSpPr>
        <p:spPr>
          <a:xfrm>
            <a:off x="508000" y="304800"/>
            <a:ext cx="76200" cy="533400"/>
          </a:xfrm>
          <a:prstGeom prst="rect">
            <a:avLst/>
          </a:prstGeom>
          <a:solidFill>
            <a:srgbClr val="00D2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30B86CD-E56D-817F-1373-4CEAF677D5D6}"/>
              </a:ext>
            </a:extLst>
          </p:cNvPr>
          <p:cNvSpPr txBox="1"/>
          <p:nvPr/>
        </p:nvSpPr>
        <p:spPr>
          <a:xfrm>
            <a:off x="698500" y="228600"/>
            <a:ext cx="10922000" cy="4154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2100" b="1">
                <a:solidFill>
                  <a:srgbClr val="FFFFFF"/>
                </a:solidFill>
                <a:latin typeface="Segoe UI" panose="020B0502040204020203" pitchFamily="34" charset="0"/>
              </a:rPr>
              <a:t>5. Validación Técnica y Suite de Pruebas xUnit (Actividad 2.5)</a:t>
            </a:r>
            <a:endParaRPr lang="es-CL" sz="21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882199B-8A3F-EBF9-C3AB-10B3CA76A85F}"/>
              </a:ext>
            </a:extLst>
          </p:cNvPr>
          <p:cNvSpPr txBox="1"/>
          <p:nvPr/>
        </p:nvSpPr>
        <p:spPr>
          <a:xfrm>
            <a:off x="698500" y="609600"/>
            <a:ext cx="10922000" cy="26930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150">
                <a:solidFill>
                  <a:srgbClr val="00D2FF"/>
                </a:solidFill>
                <a:latin typeface="Segoe UI" panose="020B0502040204020203" pitchFamily="34" charset="0"/>
              </a:rPr>
              <a:t>19 Pruebas Unitarias Automatizadas aprobadas con 100% de éxito</a:t>
            </a:r>
            <a:endParaRPr lang="es-CL" sz="1150">
              <a:solidFill>
                <a:srgbClr val="00D2FF"/>
              </a:solidFill>
              <a:latin typeface="Segoe UI" panose="020B0502040204020203" pitchFamily="34" charset="0"/>
            </a:endParaRPr>
          </a:p>
        </p:txBody>
      </p:sp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BE461808-E702-CAD0-CAED-ED3A86206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121065"/>
              </p:ext>
            </p:extLst>
          </p:nvPr>
        </p:nvGraphicFramePr>
        <p:xfrm>
          <a:off x="635000" y="1206500"/>
          <a:ext cx="10922000" cy="501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4400">
                  <a:extLst>
                    <a:ext uri="{9D8B030D-6E8A-4147-A177-3AD203B41FA5}">
                      <a16:colId xmlns:a16="http://schemas.microsoft.com/office/drawing/2014/main" val="1742483028"/>
                    </a:ext>
                  </a:extLst>
                </a:gridCol>
                <a:gridCol w="2184400">
                  <a:extLst>
                    <a:ext uri="{9D8B030D-6E8A-4147-A177-3AD203B41FA5}">
                      <a16:colId xmlns:a16="http://schemas.microsoft.com/office/drawing/2014/main" val="2859561047"/>
                    </a:ext>
                  </a:extLst>
                </a:gridCol>
                <a:gridCol w="2184400">
                  <a:extLst>
                    <a:ext uri="{9D8B030D-6E8A-4147-A177-3AD203B41FA5}">
                      <a16:colId xmlns:a16="http://schemas.microsoft.com/office/drawing/2014/main" val="852907122"/>
                    </a:ext>
                  </a:extLst>
                </a:gridCol>
                <a:gridCol w="2184400">
                  <a:extLst>
                    <a:ext uri="{9D8B030D-6E8A-4147-A177-3AD203B41FA5}">
                      <a16:colId xmlns:a16="http://schemas.microsoft.com/office/drawing/2014/main" val="4243434100"/>
                    </a:ext>
                  </a:extLst>
                </a:gridCol>
                <a:gridCol w="2184400">
                  <a:extLst>
                    <a:ext uri="{9D8B030D-6E8A-4147-A177-3AD203B41FA5}">
                      <a16:colId xmlns:a16="http://schemas.microsoft.com/office/drawing/2014/main" val="1864367297"/>
                    </a:ext>
                  </a:extLst>
                </a:gridCol>
              </a:tblGrid>
              <a:tr h="836083">
                <a:tc>
                  <a:txBody>
                    <a:bodyPr/>
                    <a:lstStyle/>
                    <a:p>
                      <a:r>
                        <a:rPr lang="es-CL" sz="1200" b="1">
                          <a:solidFill>
                            <a:srgbClr val="00D2FF"/>
                          </a:solidFill>
                          <a:latin typeface="Segoe UI" panose="020B0502040204020203" pitchFamily="34" charset="0"/>
                        </a:rPr>
                        <a:t>Módulo de Prueba (xUnit)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200" b="1">
                          <a:solidFill>
                            <a:srgbClr val="00D2FF"/>
                          </a:solidFill>
                          <a:latin typeface="Segoe UI" panose="020B0502040204020203" pitchFamily="34" charset="0"/>
                        </a:rPr>
                        <a:t>Pruebas Ejecutadas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200" b="1">
                          <a:solidFill>
                            <a:srgbClr val="00D2FF"/>
                          </a:solidFill>
                          <a:latin typeface="Segoe UI" panose="020B0502040204020203" pitchFamily="34" charset="0"/>
                        </a:rPr>
                        <a:t>Superadas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200" b="1">
                          <a:solidFill>
                            <a:srgbClr val="00D2FF"/>
                          </a:solidFill>
                          <a:latin typeface="Segoe UI" panose="020B0502040204020203" pitchFamily="34" charset="0"/>
                        </a:rPr>
                        <a:t>Fallidas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200" b="1">
                          <a:solidFill>
                            <a:srgbClr val="00D2FF"/>
                          </a:solidFill>
                          <a:latin typeface="Segoe UI" panose="020B0502040204020203" pitchFamily="34" charset="0"/>
                        </a:rPr>
                        <a:t>Resultado Operativo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030957"/>
                  </a:ext>
                </a:extLst>
              </a:tr>
              <a:tr h="836083"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AuthServiceTests (Autenticación y Sesión)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3 pruebas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Aprobado (100%)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6047379"/>
                  </a:ext>
                </a:extLst>
              </a:tr>
              <a:tr h="836083"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AsistenciaServiceTests (Marcaje y Restricciones)</a:t>
                      </a: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4 pruebas</a:t>
                      </a: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0</a:t>
                      </a: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Aprobado (100%)</a:t>
                      </a:r>
                    </a:p>
                  </a:txBody>
                  <a:tcPr>
                    <a:solidFill>
                      <a:srgbClr val="1616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914526"/>
                  </a:ext>
                </a:extLst>
              </a:tr>
              <a:tr h="836083">
                <a:tc>
                  <a:txBody>
                    <a:bodyPr/>
                    <a:lstStyle/>
                    <a:p>
                      <a:r>
                        <a:rPr lang="es-MX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UsuarioServiceTests (Gestión y CRUD de Usuarios)</a:t>
                      </a:r>
                      <a:endParaRPr lang="es-CL" sz="1150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4 pruebas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Aprobado (100%)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220264"/>
                  </a:ext>
                </a:extLst>
              </a:tr>
              <a:tr h="836083">
                <a:tc>
                  <a:txBody>
                    <a:bodyPr/>
                    <a:lstStyle/>
                    <a:p>
                      <a:r>
                        <a:rPr lang="pt-BR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ReporteServiceTests (Atrasos, Salidas e Inasistencias)</a:t>
                      </a:r>
                      <a:endParaRPr lang="es-CL" sz="1150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3 pruebas</a:t>
                      </a: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0</a:t>
                      </a: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Aprobado (100%)</a:t>
                      </a:r>
                    </a:p>
                  </a:txBody>
                  <a:tcPr>
                    <a:solidFill>
                      <a:srgbClr val="1616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8637371"/>
                  </a:ext>
                </a:extLst>
              </a:tr>
              <a:tr h="836083">
                <a:tc>
                  <a:txBody>
                    <a:bodyPr/>
                    <a:lstStyle/>
                    <a:p>
                      <a:r>
                        <a:rPr lang="es-MX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ExportServiceTests (Exportación CSV y UTF-8 BOM)</a:t>
                      </a:r>
                      <a:endParaRPr lang="es-CL" sz="1150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5 pruebas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Aprobado (100%)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68549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0037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2497A41-ED5D-AE1A-5093-5C1CF1BDAC7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DFC948A-2386-9BBE-82D7-3FFF4F19B52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D2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139615F-E36D-8666-32CF-CCB23A7BF121}"/>
              </a:ext>
            </a:extLst>
          </p:cNvPr>
          <p:cNvSpPr/>
          <p:nvPr/>
        </p:nvSpPr>
        <p:spPr>
          <a:xfrm>
            <a:off x="508000" y="304800"/>
            <a:ext cx="76200" cy="533400"/>
          </a:xfrm>
          <a:prstGeom prst="rect">
            <a:avLst/>
          </a:prstGeom>
          <a:solidFill>
            <a:srgbClr val="00D2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3654304-35F1-DDAE-A210-1201AC2004A4}"/>
              </a:ext>
            </a:extLst>
          </p:cNvPr>
          <p:cNvSpPr txBox="1"/>
          <p:nvPr/>
        </p:nvSpPr>
        <p:spPr>
          <a:xfrm>
            <a:off x="698500" y="228600"/>
            <a:ext cx="10922000" cy="4154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CL" sz="2100" b="1">
                <a:solidFill>
                  <a:srgbClr val="FFFFFF"/>
                </a:solidFill>
                <a:latin typeface="Segoe UI" panose="020B0502040204020203" pitchFamily="34" charset="0"/>
              </a:rPr>
              <a:t>6. Lista de Chequeo de Continuidad Operacional (Actividad 2.6)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0774875-DE43-C737-8BB9-C6C43F4BE17C}"/>
              </a:ext>
            </a:extLst>
          </p:cNvPr>
          <p:cNvSpPr txBox="1"/>
          <p:nvPr/>
        </p:nvSpPr>
        <p:spPr>
          <a:xfrm>
            <a:off x="698500" y="609600"/>
            <a:ext cx="10922000" cy="26930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150">
                <a:solidFill>
                  <a:srgbClr val="00D2FF"/>
                </a:solidFill>
                <a:latin typeface="Segoe UI" panose="020B0502040204020203" pitchFamily="34" charset="0"/>
              </a:rPr>
              <a:t>Auditoría formal de 20 criterios técnicos y funcionales del equipo y software</a:t>
            </a:r>
            <a:endParaRPr lang="es-CL" sz="1150">
              <a:solidFill>
                <a:srgbClr val="00D2FF"/>
              </a:solidFill>
              <a:latin typeface="Segoe UI" panose="020B0502040204020203" pitchFamily="34" charset="0"/>
            </a:endParaRPr>
          </a:p>
        </p:txBody>
      </p:sp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1DA71AD8-3B23-F896-08F0-E29DC44B59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9323440"/>
              </p:ext>
            </p:extLst>
          </p:nvPr>
        </p:nvGraphicFramePr>
        <p:xfrm>
          <a:off x="635000" y="1206500"/>
          <a:ext cx="10922000" cy="501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500">
                  <a:extLst>
                    <a:ext uri="{9D8B030D-6E8A-4147-A177-3AD203B41FA5}">
                      <a16:colId xmlns:a16="http://schemas.microsoft.com/office/drawing/2014/main" val="350272659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3942156977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68750294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3554757031"/>
                    </a:ext>
                  </a:extLst>
                </a:gridCol>
              </a:tblGrid>
              <a:tr h="836083">
                <a:tc>
                  <a:txBody>
                    <a:bodyPr/>
                    <a:lstStyle/>
                    <a:p>
                      <a:r>
                        <a:rPr lang="es-CL" sz="1200" b="1">
                          <a:solidFill>
                            <a:srgbClr val="00D2FF"/>
                          </a:solidFill>
                          <a:latin typeface="Segoe UI" panose="020B0502040204020203" pitchFamily="34" charset="0"/>
                        </a:rPr>
                        <a:t>Fase Evaluada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200" b="1">
                          <a:solidFill>
                            <a:srgbClr val="00D2FF"/>
                          </a:solidFill>
                          <a:latin typeface="Segoe UI" panose="020B0502040204020203" pitchFamily="34" charset="0"/>
                        </a:rPr>
                        <a:t>Criterios Verificados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200" b="1">
                          <a:solidFill>
                            <a:srgbClr val="00D2FF"/>
                          </a:solidFill>
                          <a:latin typeface="Segoe UI" panose="020B0502040204020203" pitchFamily="34" charset="0"/>
                        </a:rPr>
                        <a:t>Estado Obtenido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200" b="1">
                          <a:solidFill>
                            <a:srgbClr val="00D2FF"/>
                          </a:solidFill>
                          <a:latin typeface="Segoe UI" panose="020B0502040204020203" pitchFamily="34" charset="0"/>
                        </a:rPr>
                        <a:t>Responsable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8057857"/>
                  </a:ext>
                </a:extLst>
              </a:tr>
              <a:tr h="836083"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Fase 1: Pre-Instalación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Integridad del SO Windows, .NET 10 Runtime, NTP horario y espacio SSD.</a:t>
                      </a:r>
                      <a:endParaRPr lang="es-CL" sz="1150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4/4 Conformes (100%)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Fabián Mora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9908024"/>
                  </a:ext>
                </a:extLst>
              </a:tr>
              <a:tr h="836083">
                <a:tc>
                  <a:txBody>
                    <a:bodyPr/>
                    <a:lstStyle/>
                    <a:p>
                      <a:r>
                        <a:rPr lang="es-MX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Fase 2: Instalación y BD</a:t>
                      </a:r>
                      <a:endParaRPr lang="es-CL" sz="1150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Permisos NTFS, SQLite asistencia.db, DatabaseInitializer y hash BCrypt.</a:t>
                      </a: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4/4 Conformes (100%)</a:t>
                      </a: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Fabián Mora / Paul Ferrada</a:t>
                      </a:r>
                    </a:p>
                  </a:txBody>
                  <a:tcPr>
                    <a:solidFill>
                      <a:srgbClr val="1616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049479"/>
                  </a:ext>
                </a:extLst>
              </a:tr>
              <a:tr h="836083">
                <a:tc>
                  <a:txBody>
                    <a:bodyPr/>
                    <a:lstStyle/>
                    <a:p>
                      <a:r>
                        <a:rPr lang="es-MX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Fase 3: Interfaz y Funcionalidad</a:t>
                      </a:r>
                      <a:endParaRPr lang="es-CL" sz="1150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Login, marcaje entrada/salida único diario, gestión CRUD de usuarios.</a:t>
                      </a:r>
                      <a:endParaRPr lang="es-CL" sz="1150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5/5 Conformes (100%)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Agustín Cañas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454296"/>
                  </a:ext>
                </a:extLst>
              </a:tr>
              <a:tr h="836083">
                <a:tc>
                  <a:txBody>
                    <a:bodyPr/>
                    <a:lstStyle/>
                    <a:p>
                      <a:r>
                        <a:rPr lang="es-MX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Fase 4: Reportes y Ofimática</a:t>
                      </a:r>
                      <a:endParaRPr lang="es-CL" sz="1150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Filtros de atrasos &gt; 9:30, salidas &lt; 17:30, inasistencias y exportación Excel.</a:t>
                      </a:r>
                      <a:endParaRPr lang="es-CL" sz="1150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4/4 Conformes (100%)</a:t>
                      </a:r>
                    </a:p>
                  </a:txBody>
                  <a:tcPr>
                    <a:solidFill>
                      <a:srgbClr val="1616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Paul Ferrada</a:t>
                      </a:r>
                    </a:p>
                  </a:txBody>
                  <a:tcPr>
                    <a:solidFill>
                      <a:srgbClr val="1616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1112130"/>
                  </a:ext>
                </a:extLst>
              </a:tr>
              <a:tr h="836083">
                <a:tc>
                  <a:txBody>
                    <a:bodyPr/>
                    <a:lstStyle/>
                    <a:p>
                      <a:r>
                        <a:rPr lang="es-MX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Fase 5: Validación y Contingencia</a:t>
                      </a:r>
                      <a:endParaRPr lang="es-CL" sz="1150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19 pruebas xUnit aprobadas, captura global de errores y plan de backup.</a:t>
                      </a:r>
                      <a:endParaRPr lang="es-CL" sz="1150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64FFDA"/>
                          </a:solidFill>
                          <a:latin typeface="Segoe UI" panose="020B0502040204020203" pitchFamily="34" charset="0"/>
                        </a:rPr>
                        <a:t>3/3 Conformes (100%)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5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Equipo Completo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32096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2680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92D89B8-E915-3CE5-7C0D-A3B6843A3CC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497C5CA-8761-1E54-7D92-DC092ABC4EA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D2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61D92CB-A90F-02A3-21B9-D160B01E9455}"/>
              </a:ext>
            </a:extLst>
          </p:cNvPr>
          <p:cNvSpPr/>
          <p:nvPr/>
        </p:nvSpPr>
        <p:spPr>
          <a:xfrm>
            <a:off x="508000" y="304800"/>
            <a:ext cx="76200" cy="533400"/>
          </a:xfrm>
          <a:prstGeom prst="rect">
            <a:avLst/>
          </a:prstGeom>
          <a:solidFill>
            <a:srgbClr val="00D2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C45BE07-AB61-F539-428E-49B6EA0F1DEC}"/>
              </a:ext>
            </a:extLst>
          </p:cNvPr>
          <p:cNvSpPr txBox="1"/>
          <p:nvPr/>
        </p:nvSpPr>
        <p:spPr>
          <a:xfrm>
            <a:off x="698500" y="228600"/>
            <a:ext cx="10922000" cy="4154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2100" b="1">
                <a:solidFill>
                  <a:srgbClr val="FFFFFF"/>
                </a:solidFill>
                <a:latin typeface="Segoe UI" panose="020B0502040204020203" pitchFamily="34" charset="0"/>
              </a:rPr>
              <a:t>7. Conclusiones y Oportunidades de Mejora</a:t>
            </a:r>
            <a:endParaRPr lang="es-CL" sz="21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D83D386-E3AE-61C5-F80C-0CE39284E3B0}"/>
              </a:ext>
            </a:extLst>
          </p:cNvPr>
          <p:cNvSpPr txBox="1"/>
          <p:nvPr/>
        </p:nvSpPr>
        <p:spPr>
          <a:xfrm>
            <a:off x="698500" y="609600"/>
            <a:ext cx="10922000" cy="26930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150">
                <a:solidFill>
                  <a:srgbClr val="00D2FF"/>
                </a:solidFill>
                <a:latin typeface="Segoe UI" panose="020B0502040204020203" pitchFamily="34" charset="0"/>
              </a:rPr>
              <a:t>Lecciones aprendidas, continuidad operacional y sello valórico institucional</a:t>
            </a:r>
            <a:endParaRPr lang="es-CL" sz="1150">
              <a:solidFill>
                <a:srgbClr val="00D2FF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760D643-E164-4F02-55E5-D5D7230D0BE3}"/>
              </a:ext>
            </a:extLst>
          </p:cNvPr>
          <p:cNvSpPr/>
          <p:nvPr/>
        </p:nvSpPr>
        <p:spPr>
          <a:xfrm>
            <a:off x="635000" y="1143000"/>
            <a:ext cx="5270500" cy="5207000"/>
          </a:xfrm>
          <a:prstGeom prst="rect">
            <a:avLst/>
          </a:prstGeom>
          <a:solidFill>
            <a:srgbClr val="1A1A2E"/>
          </a:solidFill>
          <a:ln>
            <a:solidFill>
              <a:srgbClr val="2A2A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8E35675-52DD-4429-7EA3-486A25FB13B8}"/>
              </a:ext>
            </a:extLst>
          </p:cNvPr>
          <p:cNvSpPr txBox="1"/>
          <p:nvPr/>
        </p:nvSpPr>
        <p:spPr>
          <a:xfrm>
            <a:off x="889000" y="1333500"/>
            <a:ext cx="4762500" cy="267765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1200">
                <a:solidFill>
                  <a:srgbClr val="FFFFFF"/>
                </a:solidFill>
                <a:latin typeface="Segoe UI" panose="020B0502040204020203" pitchFamily="34" charset="0"/>
              </a:rPr>
              <a:t>CONCLUSIONES PRINCIPALES
• Continuidad Garantizada: El computador y el sistema se encuentran 100% operativos, estables y protegidos ante fallos de conectividad.
• Eficiencia en RRHH: La exportación nativa a Excel automatiza el cálculo de liquidaciones reduciendo tiempos administrativos.
• Sello Valórico Tomista: La Excelencia y Esfuerzo en el código riguroso, junto a la Fraternidad y Solidaridad en la coordinación grupal, superaron las malas prácticas evidenciadas en el caso.
</a:t>
            </a:r>
            <a:endParaRPr lang="es-CL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DFEE484F-6E6A-416D-4ECC-36377E28F4E9}"/>
              </a:ext>
            </a:extLst>
          </p:cNvPr>
          <p:cNvSpPr/>
          <p:nvPr/>
        </p:nvSpPr>
        <p:spPr>
          <a:xfrm>
            <a:off x="6286500" y="1143000"/>
            <a:ext cx="5270500" cy="5207000"/>
          </a:xfrm>
          <a:prstGeom prst="rect">
            <a:avLst/>
          </a:prstGeom>
          <a:solidFill>
            <a:srgbClr val="1A1A2E"/>
          </a:solidFill>
          <a:ln>
            <a:solidFill>
              <a:srgbClr val="2A2A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7355745-E341-034C-01E7-E130FE1A0DBB}"/>
              </a:ext>
            </a:extLst>
          </p:cNvPr>
          <p:cNvSpPr txBox="1"/>
          <p:nvPr/>
        </p:nvSpPr>
        <p:spPr>
          <a:xfrm>
            <a:off x="6540500" y="1333500"/>
            <a:ext cx="4762500" cy="304698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1200">
                <a:solidFill>
                  <a:srgbClr val="FFFFFF"/>
                </a:solidFill>
                <a:latin typeface="Segoe UI" panose="020B0502040204020203" pitchFamily="34" charset="0"/>
              </a:rPr>
              <a:t>OPORTUNIDADES DE MEJORA
• Sincronización Cloud Híbrida: Sincronizar periódicamente la base local SQLite con una instancia centralizada en Azure SQL o PostgreSQL.
• Marcaje Físico / RFID: Integrar lectores de credenciales RFID o biométricos para hacer aún más ágil el flujo de entrada.
• Alertas Automáticas por Correo: Notificación inmediata a supervisores ante atrasos reiterados o inasistencias injustificadas.
• Instalador MSIX / Inno Setup: Empaquetar prerrequisitos para despliegue automatizado en nuevas sucursales.
</a:t>
            </a:r>
            <a:endParaRPr lang="es-CL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089335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1392</Words>
  <Application>Microsoft Office PowerPoint</Application>
  <PresentationFormat>Personalizado</PresentationFormat>
  <Paragraphs>116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Segoe UI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 CHRISTOPHER FERRADA LARA</dc:creator>
  <cp:lastModifiedBy>PAUL CHRISTOPHER FERRADA LARA</cp:lastModifiedBy>
  <cp:revision>1</cp:revision>
  <dcterms:created xsi:type="dcterms:W3CDTF">2026-10-22T01:04:25Z</dcterms:created>
  <dcterms:modified xsi:type="dcterms:W3CDTF">2026-10-22T01:04:25Z</dcterms:modified>
</cp:coreProperties>
</file>