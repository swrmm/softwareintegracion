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E5117-7496-8587-85AC-45DC58BA6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ABBBF6-6A68-9507-73DB-3BF526497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C01A64-3174-0AED-B29C-E45785F7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444047-8857-575D-23EA-27BE680A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5302B1-F4F1-7473-A742-6F753386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85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11D65-4291-1FA3-F653-9F2AA905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834A2-F6B0-2180-0806-22356F4F8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79305C-26AB-58B1-C49F-520EA481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BECE2E-D9FA-D9BC-5F09-ECAB83F5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C3EA3E-F9A6-F31A-009F-BE8A317C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000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0BCC9-4C3C-E34B-B6B6-A953548F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D7B5D3-E45F-ED37-3A78-15EFB0F74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6AAD3A-D95D-45B5-244D-5D14DCDA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3AE39-EAC2-EA8A-5B33-ED86D6ED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0D092-D478-6DDA-94A4-6F501040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174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5487D-1812-BE52-0CB1-2C2F37E4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A8DCE8-0988-1122-6602-47B30F070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DD1455-66B7-3686-29D0-925028965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54DEAF-68BF-786A-4BD2-FC80E75D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59666C-2D19-8829-372C-88C89976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FB209B-E8B5-C452-DF4C-F3537814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425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5CCA-1F79-DA8F-22BA-D25957BB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D6D83-3F71-EC8F-6EA8-FCB64D48B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DAB60-4F55-483D-F354-B5E0A9F0C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BA9A06-6BBF-92DD-9AC8-A53A23274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043A2F-A3D3-22D5-E2C8-B277DA5BB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555A3D-965A-671B-6B87-E1B7500F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BD894D-4C6D-1D34-81DD-8977E70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8E4A4B9-51FF-5C4B-BCF0-A426CA59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472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9AA41-AE57-83F8-7BFA-FCC8881F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8B0383-CCF6-A320-B3DF-0B3959A5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E94B96-88A9-BAA9-23AE-A56C4670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DDEE50-2439-0BB5-3CFD-AF95663E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500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85FD95-DBD4-5BB2-C7AA-49171E29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615C1C-3FBE-9237-DB2D-72F9840B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BD410-BBB9-7D61-3DAC-FA0086C1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804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13D16-7917-CBFF-7BE5-BD047519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1DC21-9352-E52E-CC2B-26EA495F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0BD597-28DA-517F-F59F-84FC4655C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7DA7FB-F345-96A2-0749-A987F22A5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0AC54F-7AA0-2916-325A-541DC621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5FB7D7-DF70-F349-99F0-838691E5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56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C22EB-9FE3-1BAE-D374-8DFAE8A5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3E1A6E-BBE3-535B-E3CC-91A820216B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756972-684D-FAA4-C9AA-E2836A88F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2D21A-5B92-C57D-CC84-878C54F1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A12486-2254-5447-1FA9-F365A3855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F0BC90-72AA-94E8-3D9B-A62BE38C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50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BB457-F92D-1804-8C7F-CA8E0B3D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E813A9-FD3C-4BC4-5B56-F90A6664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7E3AC-C383-D493-CC4E-60D6B7C2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FF6F0-829A-EE3F-BB1A-90FF5417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186292-0E6D-2F63-ECD8-72AD6BFD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684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A7BEFC-5FD2-FF21-0CB5-A33342140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3CAEF9-D4A7-2A18-3423-EC2988A41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CAC805-938A-CE52-18C0-FEABFD3E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A24A4F-32CC-DFA1-62C5-6ADBBD15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963AC-C6B5-E8D2-0074-EED8F9C6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18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993C95-E21B-2C0D-C6EB-0048F449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687B7B-7957-18B1-FE3C-844495D22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A43089-B74A-C469-82E9-B80E9C9BF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872C1-EEF4-4EC1-B321-FAE689206160}" type="datetimeFigureOut">
              <a:rPr lang="es-CL" smtClean="0"/>
              <a:t>21-10-2026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51472E-EA28-187A-2077-29F29660B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0ECBC-8CEA-59ED-2309-0118936A6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B4BBA-2261-4F59-8D00-50A6F4496E4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321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8BBBF4E-17FD-382E-31DE-29ABA5CB7D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567580F-27E5-540E-A788-3911BC708A4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684B02-F290-A354-9B50-9751C297931C}"/>
              </a:ext>
            </a:extLst>
          </p:cNvPr>
          <p:cNvSpPr/>
          <p:nvPr/>
        </p:nvSpPr>
        <p:spPr>
          <a:xfrm>
            <a:off x="762000" y="1016000"/>
            <a:ext cx="10668000" cy="4826000"/>
          </a:xfrm>
          <a:prstGeom prst="rect">
            <a:avLst/>
          </a:prstGeom>
          <a:solidFill>
            <a:srgbClr val="1A1A2E"/>
          </a:solidFill>
          <a:ln>
            <a:solidFill>
              <a:srgbClr val="2A2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27827B-4268-1BF7-5CC8-10C86A168BE4}"/>
              </a:ext>
            </a:extLst>
          </p:cNvPr>
          <p:cNvSpPr txBox="1"/>
          <p:nvPr/>
        </p:nvSpPr>
        <p:spPr>
          <a:xfrm>
            <a:off x="1143000" y="1270000"/>
            <a:ext cx="99060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2600" b="1">
                <a:solidFill>
                  <a:srgbClr val="00D2FF"/>
                </a:solidFill>
                <a:latin typeface="Segoe UI" panose="020B0502040204020203" pitchFamily="34" charset="0"/>
              </a:rPr>
              <a:t>SISTEMA DE CONTROL DE ASISTENCIA
EvaluaciÃ³n PrÃ¡ctica Etapa 2 - Continuidad Operacional (Semana 11)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3102E3-1BE6-5B13-66CB-D37966EE061E}"/>
              </a:ext>
            </a:extLst>
          </p:cNvPr>
          <p:cNvSpPr txBox="1"/>
          <p:nvPr/>
        </p:nvSpPr>
        <p:spPr>
          <a:xfrm>
            <a:off x="1143000" y="3048000"/>
            <a:ext cx="9906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400">
                <a:solidFill>
                  <a:srgbClr val="FFFFFF"/>
                </a:solidFill>
                <a:latin typeface="Segoe UI" panose="020B0502040204020203" pitchFamily="34" charset="0"/>
              </a:rPr>
              <a:t>â€¢ Asignatura: Taller de IntegraciÃ³n de Competencias II (IEI-094)
â€¢ Integrantes del Equipo:
    - FabiÃ¡n Mora (Infraestructura, BD SQLite y Continuidad Operacional)
    - AgustÃ­n CaÃ±as (Desarrollo Frontend WPF MVVM y LÃ³gica de Negocio)
    - Paul Ferrada (ValidaciÃ³n QA, Pruebas xUnit y ExportaciÃ³n OfimÃ¡tica)
â€¢ InstituciÃ³n: Instituto Profesional Santo TomÃ¡s
â€¢ Fecha: Octubre 2026</a:t>
            </a:r>
          </a:p>
        </p:txBody>
      </p:sp>
    </p:spTree>
    <p:extLst>
      <p:ext uri="{BB962C8B-B14F-4D97-AF65-F5344CB8AC3E}">
        <p14:creationId xmlns:p14="http://schemas.microsoft.com/office/powerpoint/2010/main" val="307968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2B33AC8-8DA8-7311-302A-F627E99A42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AD5863-4725-168C-CC0F-3767E80B87E4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568D0A-D120-F40E-CAA0-065495DA2067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2200" b="1">
                <a:solidFill>
                  <a:srgbClr val="FFFFFF"/>
                </a:solidFill>
                <a:latin typeface="Segoe UI" panose="020B0502040204020203" pitchFamily="34" charset="0"/>
              </a:rPr>
              <a:t>1. Contexto Empresarial y Continuidad Operacional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E4B627-17F4-1CAD-B9D1-F79A201AF368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1200">
                <a:solidFill>
                  <a:srgbClr val="8892B0"/>
                </a:solidFill>
                <a:latin typeface="Segoe UI" panose="020B0502040204020203" pitchFamily="34" charset="0"/>
              </a:rPr>
              <a:t>Caso: SoluciÃ³n de Asistencia para 25 trabajadores de empresa de productos quÃ­micos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47784C-8E69-EAF7-2535-32CF5F8F0270}"/>
              </a:ext>
            </a:extLst>
          </p:cNvPr>
          <p:cNvSpPr/>
          <p:nvPr/>
        </p:nvSpPr>
        <p:spPr>
          <a:xfrm>
            <a:off x="762000" y="1270000"/>
            <a:ext cx="5080000" cy="4953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425197-00B8-EA8B-4AFD-8EEB2EF1E8C1}"/>
              </a:ext>
            </a:extLst>
          </p:cNvPr>
          <p:cNvSpPr txBox="1"/>
          <p:nvPr/>
        </p:nvSpPr>
        <p:spPr>
          <a:xfrm>
            <a:off x="1016000" y="1524000"/>
            <a:ext cx="4572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300">
                <a:solidFill>
                  <a:srgbClr val="FFFFFF"/>
                </a:solidFill>
                <a:latin typeface="Segoe UI" panose="020B0502040204020203" pitchFamily="34" charset="0"/>
              </a:rPr>
              <a:t>REQUERIMIENTOS DEL CLIENTE
â€¢ DotaciÃ³n: 25 colaboradores con necesidad de marcaje expedito de entrada y salida.
â€¢ Normativa Laboral: Cumplimiento legal de registro horario fidedigno.
â€¢ ReporterÃ­a de RRHH: DetecciÃ³n automÃ¡tica de atrasos (&gt; 9:30 AM), salidas anticipadas (&lt; 17:30 PM) e inasistencias en dÃ­as laborables.
â€¢ IntegraciÃ³n OfimÃ¡tica: ExportaciÃ³n de planillas compatibles directamente con Microsoft Excel para cÃ¡lculo de nÃ³minas.
â€¢ Resiliencia: Continuidad operativa aun ante caÃ­das temporales de la red externa.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AFFAD6D-C4BE-2C91-9134-D4347ACDEDE8}"/>
              </a:ext>
            </a:extLst>
          </p:cNvPr>
          <p:cNvSpPr/>
          <p:nvPr/>
        </p:nvSpPr>
        <p:spPr>
          <a:xfrm>
            <a:off x="6350000" y="1270000"/>
            <a:ext cx="5080000" cy="4953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495D0E6-1FE5-B10C-B0F8-5DEF97BFA4CF}"/>
              </a:ext>
            </a:extLst>
          </p:cNvPr>
          <p:cNvSpPr txBox="1"/>
          <p:nvPr/>
        </p:nvSpPr>
        <p:spPr>
          <a:xfrm>
            <a:off x="6604000" y="1524000"/>
            <a:ext cx="4572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300">
                <a:solidFill>
                  <a:srgbClr val="FFFFFF"/>
                </a:solidFill>
                <a:latin typeface="Segoe UI" panose="020B0502040204020203" pitchFamily="34" charset="0"/>
              </a:rPr>
              <a:t>GARANTÃA DE CONTINUIDAD (CE3N2)
â€¢ SO Estandarizado: Windows 10/11 Pro 64-bit con runtime .NET 10 verificado.
â€¢ Persistencia Local SQLite: Motor relacional embebido libre de latencias y con cero configuraciÃ³n de servidor.
â€¢ Seguridad de Accesos: ContraseÃ±as encriptadas con algoritmo hash BCrypt.
â€¢ Manejo Robusto de Excepciones: Captura global de eventos no controlados con registro en crash.log.
â€¢ SincronizaciÃ³n Horaria: Reloj local sincronizado por protocolo NTP oficial para registros inalterables.</a:t>
            </a:r>
          </a:p>
        </p:txBody>
      </p:sp>
    </p:spTree>
    <p:extLst>
      <p:ext uri="{BB962C8B-B14F-4D97-AF65-F5344CB8AC3E}">
        <p14:creationId xmlns:p14="http://schemas.microsoft.com/office/powerpoint/2010/main" val="406482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4C5F626-F9D2-EF2E-67FF-AF3997097E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70C8B2-2EE5-21C0-015B-8B205BDFC36B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7A33BA-8E6E-C97D-1E24-4BDCE7CAD961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200" b="1">
                <a:solidFill>
                  <a:srgbClr val="FFFFFF"/>
                </a:solidFill>
                <a:latin typeface="Segoe UI" panose="020B0502040204020203" pitchFamily="34" charset="0"/>
              </a:rPr>
              <a:t>2. Carta Gantt de la PlanificaciÃ³n (Actividad 2.2)</a:t>
            </a:r>
            <a:endParaRPr lang="es-CL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CB0BEA-C654-715C-4834-BEF8C8DB579B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1200">
                <a:solidFill>
                  <a:srgbClr val="8892B0"/>
                </a:solidFill>
                <a:latin typeface="Segoe UI" panose="020B0502040204020203" pitchFamily="34" charset="0"/>
              </a:rPr>
              <a:t>PlanificaciÃ³n cronolÃ³gica de actividades 2.2 a 2.6 y distribuciÃ³n de responsabilidades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CEC3CFC-706B-35C4-895C-6D6B462BE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49169"/>
              </p:ext>
            </p:extLst>
          </p:nvPr>
        </p:nvGraphicFramePr>
        <p:xfrm>
          <a:off x="762000" y="13970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6612734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465187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75161445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0692669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71016580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65944625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Fase / Actividad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DuraciÃ³n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Entregable Principal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Responsable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014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Actividad 2.2: PlanificaciÃ³n e Inventario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Semana 7-8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7 dÃ­as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Catastro de Recursos y Matriz de Riesgos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FabiÃ¡n Mora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100% Completado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36289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Actividad 2.3: Manual de InstalaciÃ³n y SO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Semana 9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4 dÃ­as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Manual TÃ©cnico de Despliegue y ConfiguraciÃ³n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FabiÃ¡n Mora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100% Completado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3477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Actividad 2.4: BitÃ¡cora de Despliegue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Semana 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3 dÃ­as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Registro de Procedimientos y Tareas TÃ©cnicas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Paul Ferrada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100% Completado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19363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Actividad 2.5: ValidaciÃ³n y Pruebas Unitarias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Semana 10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5 dÃ­as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19 Pruebas xUnit y MÃ³dulo ExportaciÃ³n OfimÃ¡tica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Paul Ferrada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100% Completado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514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Actividad 2.6: Lista de Chequeo y Video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Semana 11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4 dÃ­as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Checklist Operacional, Video Tutorial y PPT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Equipo Completo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100% Completado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132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34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C308853-39C3-AD60-CA2E-025930D7B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F2D5E3-DBC1-055B-754A-B5A928A3F702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E2E528-FD09-1B5D-F1D5-B207E6251779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2200" b="1">
                <a:solidFill>
                  <a:srgbClr val="FFFFFF"/>
                </a:solidFill>
                <a:latin typeface="Segoe UI" panose="020B0502040204020203" pitchFamily="34" charset="0"/>
              </a:rPr>
              <a:t>3. InstalaciÃ³n y ConfiguraciÃ³n del Entorno (Actividad 2.3)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CE8392-362B-DE87-DA9D-197EB7033FAE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solidFill>
                  <a:srgbClr val="8892B0"/>
                </a:solidFill>
                <a:latin typeface="Segoe UI" panose="020B0502040204020203" pitchFamily="34" charset="0"/>
              </a:rPr>
              <a:t>EstandarizaciÃ³n tÃ©cnica para asegurar la compatibilidad y continuidad del servicio</a:t>
            </a:r>
            <a:endParaRPr lang="es-CL" sz="1200">
              <a:solidFill>
                <a:srgbClr val="8892B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5894A2-DA63-E290-CD16-88099D622847}"/>
              </a:ext>
            </a:extLst>
          </p:cNvPr>
          <p:cNvSpPr/>
          <p:nvPr/>
        </p:nvSpPr>
        <p:spPr>
          <a:xfrm>
            <a:off x="762000" y="1397000"/>
            <a:ext cx="3302000" cy="4699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5D2B13-3016-47DC-8E31-DF2DC0B0FD7E}"/>
              </a:ext>
            </a:extLst>
          </p:cNvPr>
          <p:cNvSpPr txBox="1"/>
          <p:nvPr/>
        </p:nvSpPr>
        <p:spPr>
          <a:xfrm>
            <a:off x="952500" y="1587500"/>
            <a:ext cx="2921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200">
                <a:solidFill>
                  <a:srgbClr val="FFFFFF"/>
                </a:solidFill>
                <a:latin typeface="Segoe UI" panose="020B0502040204020203" pitchFamily="34" charset="0"/>
              </a:rPr>
              <a:t>ENTORNO SISTEMA OPERATIVO
â€¢ SO: Windows 11 / 10 Pro 64-bit.
â€¢ Runtime: .NET 10 Desktop Runtime x64.
â€¢ Permisos: Permisos NTFS de lectura y modificaciÃ³n en directorio local de la aplicaciÃ³n.
â€¢ ResoluciÃ³n: 1920x1080 @ 100% escalado DPI verificado sin distorsiÃ³n.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7E6A43-8F2B-C3F0-20A5-1BBDCD233A33}"/>
              </a:ext>
            </a:extLst>
          </p:cNvPr>
          <p:cNvSpPr/>
          <p:nvPr/>
        </p:nvSpPr>
        <p:spPr>
          <a:xfrm>
            <a:off x="4445000" y="1397000"/>
            <a:ext cx="3302000" cy="4699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D41646-1CD0-9C8E-E123-4F91B932F742}"/>
              </a:ext>
            </a:extLst>
          </p:cNvPr>
          <p:cNvSpPr txBox="1"/>
          <p:nvPr/>
        </p:nvSpPr>
        <p:spPr>
          <a:xfrm>
            <a:off x="4635500" y="1587500"/>
            <a:ext cx="2921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200">
                <a:solidFill>
                  <a:srgbClr val="FFFFFF"/>
                </a:solidFill>
                <a:latin typeface="Segoe UI" panose="020B0502040204020203" pitchFamily="34" charset="0"/>
              </a:rPr>
              <a:t>BASE DE DATOS Y PERSISTENCIA
â€¢ Motor: SQLite 3 relacional local.
â€¢ ORM: Entity Framework Core 10.
â€¢ Inicializador: DatabaseInitializer genera tablas e Ã­ndices automÃ¡ticamente.
â€¢ Usuario Semilla: Administrador admin@empresa.cl generado con BCrypt en primera carga.
â€¢ Integridad: RestricciÃ³n Ãºnica que impide entradas duplicadas por dÃ­a.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9FECE5-CC8C-178D-C1FF-37F2646A5975}"/>
              </a:ext>
            </a:extLst>
          </p:cNvPr>
          <p:cNvSpPr/>
          <p:nvPr/>
        </p:nvSpPr>
        <p:spPr>
          <a:xfrm>
            <a:off x="8128000" y="1397000"/>
            <a:ext cx="3302000" cy="4699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FAB5EEA-9BEA-23A2-3295-C6ABA213B66F}"/>
              </a:ext>
            </a:extLst>
          </p:cNvPr>
          <p:cNvSpPr txBox="1"/>
          <p:nvPr/>
        </p:nvSpPr>
        <p:spPr>
          <a:xfrm>
            <a:off x="8318500" y="1587500"/>
            <a:ext cx="2921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200">
                <a:solidFill>
                  <a:srgbClr val="FFFFFF"/>
                </a:solidFill>
                <a:latin typeface="Segoe UI" panose="020B0502040204020203" pitchFamily="34" charset="0"/>
              </a:rPr>
              <a:t>INTEGRACIÃ“N CON OFIMÃTICA
â€¢ Servicio: ExportService especializado en exportaciÃ³n tabular.
â€¢ CodificaciÃ³n: UTF-8 con BOM (Byte Order Mark 0xEF, 0xBB, 0xBF).
â€¢ Delimitador: Punto y coma (;) nativo de Excel en espaÃ±ol.
â€¢ Cobertura: Atrasos, salidas anticipadas e inasistencias exportables en 1 clic.</a:t>
            </a:r>
          </a:p>
        </p:txBody>
      </p:sp>
    </p:spTree>
    <p:extLst>
      <p:ext uri="{BB962C8B-B14F-4D97-AF65-F5344CB8AC3E}">
        <p14:creationId xmlns:p14="http://schemas.microsoft.com/office/powerpoint/2010/main" val="287862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F72C35-69B5-D9BE-9247-1EBBCC0F37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AE4ADA-91F3-BD0D-DAA5-34EDA096E05A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B8FED2-7002-42F3-D25C-66E3720AA920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2200" b="1">
                <a:solidFill>
                  <a:srgbClr val="FFFFFF"/>
                </a:solidFill>
                <a:latin typeface="Segoe UI" panose="020B0502040204020203" pitchFamily="34" charset="0"/>
              </a:rPr>
              <a:t>4. Video Tutorial del Proceso de InstalaciÃ³n y ValidaciÃ³n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94C17D-D6F2-831D-2A12-C8CB303D133D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solidFill>
                  <a:srgbClr val="8892B0"/>
                </a:solidFill>
                <a:latin typeface="Segoe UI" panose="020B0502040204020203" pitchFamily="34" charset="0"/>
              </a:rPr>
              <a:t>Evidencia audiovisual del computador operativo, despliegue y funcionamiento</a:t>
            </a:r>
            <a:endParaRPr lang="es-CL" sz="1200">
              <a:solidFill>
                <a:srgbClr val="8892B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003578E-BF47-D51D-4A2D-29BE259CA856}"/>
              </a:ext>
            </a:extLst>
          </p:cNvPr>
          <p:cNvSpPr/>
          <p:nvPr/>
        </p:nvSpPr>
        <p:spPr>
          <a:xfrm>
            <a:off x="762000" y="1397000"/>
            <a:ext cx="10668000" cy="4699000"/>
          </a:xfrm>
          <a:prstGeom prst="rect">
            <a:avLst/>
          </a:prstGeom>
          <a:solidFill>
            <a:srgbClr val="1A1A2E"/>
          </a:solidFill>
          <a:ln>
            <a:solidFill>
              <a:srgbClr val="2A2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C3F1C1-420F-11C3-46C2-029464DFDEA3}"/>
              </a:ext>
            </a:extLst>
          </p:cNvPr>
          <p:cNvSpPr txBox="1"/>
          <p:nvPr/>
        </p:nvSpPr>
        <p:spPr>
          <a:xfrm>
            <a:off x="1143000" y="1651000"/>
            <a:ext cx="990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300">
                <a:solidFill>
                  <a:srgbClr val="FFFFFF"/>
                </a:solidFill>
                <a:latin typeface="Segoe UI" panose="020B0502040204020203" pitchFamily="34" charset="0"/>
              </a:rPr>
              <a:t>ENLACE DIRECTO AL VIDEO TUTORIAL (AULA VIRTUAL / YOUTUBE / DRIVE):
https://youtu.be/ejemplo-enlace-video-asistencia (Reemplazar con el enlace de grabaciÃ³n definitiva)
ESTRUCTURA DEL VIDEO DEMOSTRATIVO (TIPO TUTORIAL):
1. Min 00:00 - 01:15 (FabiÃ¡n Mora): PresentaciÃ³n del equipo, contexto del caso empresarial y demostraciÃ³n del computador operativo con Windows 11.
2. Min 01:15 - 02:45 (FabiÃ¡n Mora): Proceso de instalaciÃ³n de .NET 10 Desktop Runtime, permisos NTFS e inicializaciÃ³n de SQLite.
3. Min 02:45 - 05:30 (AgustÃ­n CaÃ±as): DemostraciÃ³n en vivo de la aplicaciÃ³n WPF: Login admin/empleado, marcaje de asistencia, bloqueo de doble marcaje y gestiÃ³n de usuarios CRUD.
4. Min 05:30 - 07:15 (Paul Ferrada): GeneraciÃ³n de reportes con filtros automÃ¡ticos (atrasos &gt; 9:30 AM, salidas anticipadas &lt; 17:30 PM, inasistencias) y exportaciÃ³n a Excel en vivo.
5. Min 07:15 - 08:30 (Paul Ferrada y Equipo): EjecuciÃ³n de 19 pruebas unitarias automatizadas (dotnet test) y cierre con sello valÃ³rico.</a:t>
            </a:r>
          </a:p>
        </p:txBody>
      </p:sp>
    </p:spTree>
    <p:extLst>
      <p:ext uri="{BB962C8B-B14F-4D97-AF65-F5344CB8AC3E}">
        <p14:creationId xmlns:p14="http://schemas.microsoft.com/office/powerpoint/2010/main" val="137677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6F42F42-09BA-AA9E-E5C6-A14629B8F4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11E7A1-879A-61A7-3BB5-BCCAFB5DF821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F4769-CDD4-E0EC-EFDF-C0FEF603345F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200" b="1">
                <a:solidFill>
                  <a:srgbClr val="FFFFFF"/>
                </a:solidFill>
                <a:latin typeface="Segoe UI" panose="020B0502040204020203" pitchFamily="34" charset="0"/>
              </a:rPr>
              <a:t>5. ValidaciÃ³n TÃ©cnica y Suite de Pruebas xUnit (Actividad 2.5)</a:t>
            </a:r>
            <a:endParaRPr lang="es-CL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705677-F385-8FFB-3722-BD76ABDD7C17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solidFill>
                  <a:srgbClr val="8892B0"/>
                </a:solidFill>
                <a:latin typeface="Segoe UI" panose="020B0502040204020203" pitchFamily="34" charset="0"/>
              </a:rPr>
              <a:t>19 Pruebas Unitarias Automatizadas aprobadas con 100% de Ã©xito</a:t>
            </a:r>
            <a:endParaRPr lang="es-CL" sz="1200">
              <a:solidFill>
                <a:srgbClr val="8892B0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3E87C9D-6D6A-A2A8-E80A-F30D42971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50052"/>
              </p:ext>
            </p:extLst>
          </p:nvPr>
        </p:nvGraphicFramePr>
        <p:xfrm>
          <a:off x="762000" y="13970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6646542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96657130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97122181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15929868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9119159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MÃ³dulo de Prueba (xUnit)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Pruebas Ejecutadas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Superadas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Fallidas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Resultado Operativo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45788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AuthServiceTests (AutenticaciÃ³n y SesiÃ³n)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3 pruebas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Aprobado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8969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AsistenciaServiceTests (Marcaje y Restricciones)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4 pruebas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Aprobado (100%)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5073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UsuarioServiceTests (GestiÃ³n y CRUD de Usuarios)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4 pruebas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Aprobado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39853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pt-BR" sz="1100">
                          <a:solidFill>
                            <a:srgbClr val="FFFFFF"/>
                          </a:solidFill>
                        </a:rPr>
                        <a:t>ReporteServiceTests (Atrasos, Salidas e Inasistencias)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3 pruebas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Aprobado (100%)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53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ExportServiceTests (ExportaciÃ³n CSV y UTF-8 BOM)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5 pruebas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Aprobado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19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58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97C5C3-D4B1-42A0-455F-38CA182FC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5637F9-38E7-9E92-3856-C24AF33BED35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1BAA3A-3500-0C91-899E-869F5CE92C7A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L" sz="2200" b="1">
                <a:solidFill>
                  <a:srgbClr val="FFFFFF"/>
                </a:solidFill>
                <a:latin typeface="Segoe UI" panose="020B0502040204020203" pitchFamily="34" charset="0"/>
              </a:rPr>
              <a:t>6. Lista de Chequeo de Continuidad Operacional (Actividad 2.6)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D67EAC-A356-8801-0794-314A12D90E0D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solidFill>
                  <a:srgbClr val="8892B0"/>
                </a:solidFill>
                <a:latin typeface="Segoe UI" panose="020B0502040204020203" pitchFamily="34" charset="0"/>
              </a:rPr>
              <a:t>AuditorÃ­a formal de 20 criterios tÃ©cnicos y funcionales del equipo y software</a:t>
            </a:r>
            <a:endParaRPr lang="es-CL" sz="1200">
              <a:solidFill>
                <a:srgbClr val="8892B0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35DAC78-AF0F-6425-725E-27575409B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679701"/>
              </p:ext>
            </p:extLst>
          </p:nvPr>
        </p:nvGraphicFramePr>
        <p:xfrm>
          <a:off x="762000" y="13970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34717449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6385740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4446979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7940827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Fase Evaluada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Criterios Verificados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Estado Obtenido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200" b="1">
                          <a:solidFill>
                            <a:srgbClr val="00D2FF"/>
                          </a:solidFill>
                        </a:rPr>
                        <a:t>Responsable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99374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Fase 1: Pre-InstalaciÃ³n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Integridad del SO Windows, .NET 10 Runtime, NTP horario y espacio SSD.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4/4 Conformes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FabiÃ¡n Mora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23102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Fase 2: InstalaciÃ³n y BD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Permisos NTFS, SQLite asistencia.db, DatabaseInitializer y hash BCrypt.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4/4 Conformes (100%)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FabiÃ¡n Mora / Paul Ferrada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52227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Fase 3: Interfaz y Funcionalidad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Login, marcaje entrada/salida Ãºnico diario, gestiÃ³n CRUD de usuarios.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5/5 Conformes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AgustÃ­n CaÃ±as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019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Fase 4: Reportes y OfimÃ¡tica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Filtros de atrasos &gt; 9:30, salidas &lt; 17:30, inasistencias y exportaciÃ³n Excel.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4/4 Conformes (100%)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Paul Ferrada</a:t>
                      </a:r>
                    </a:p>
                  </a:txBody>
                  <a:tcPr>
                    <a:solidFill>
                      <a:srgbClr val="161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45974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Fase 5: ValidaciÃ³n y Contingencia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>
                          <a:solidFill>
                            <a:srgbClr val="FFFFFF"/>
                          </a:solidFill>
                        </a:rPr>
                        <a:t>19 pruebas xUnit aprobadas, captura global de errores y plan de backup.</a:t>
                      </a:r>
                      <a:endParaRPr lang="es-CL" sz="110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64FFDA"/>
                          </a:solidFill>
                        </a:rPr>
                        <a:t>3/3 Conformes (100%)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>
                          <a:solidFill>
                            <a:srgbClr val="FFFFFF"/>
                          </a:solidFill>
                        </a:rPr>
                        <a:t>Equipo Completo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8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62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986229D-EDBE-34E7-C1E7-893AE0F3F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55DE76-AFAF-EEB2-4FE9-773BC7D7CA2A}"/>
              </a:ext>
            </a:extLst>
          </p:cNvPr>
          <p:cNvSpPr/>
          <p:nvPr/>
        </p:nvSpPr>
        <p:spPr>
          <a:xfrm>
            <a:off x="508000" y="317500"/>
            <a:ext cx="76200" cy="571500"/>
          </a:xfrm>
          <a:prstGeom prst="rect">
            <a:avLst/>
          </a:prstGeom>
          <a:solidFill>
            <a:srgbClr val="00D2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328EF0-7B67-E9FC-37AD-4F81C79825E9}"/>
              </a:ext>
            </a:extLst>
          </p:cNvPr>
          <p:cNvSpPr txBox="1"/>
          <p:nvPr/>
        </p:nvSpPr>
        <p:spPr>
          <a:xfrm>
            <a:off x="698500" y="254000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200" b="1">
                <a:solidFill>
                  <a:srgbClr val="FFFFFF"/>
                </a:solidFill>
                <a:latin typeface="Segoe UI" panose="020B0502040204020203" pitchFamily="34" charset="0"/>
              </a:rPr>
              <a:t>7. Conclusiones y Oportunidades de Mejora</a:t>
            </a:r>
            <a:endParaRPr lang="es-CL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BB6C72-1AE9-A559-184A-50C3E758F3EE}"/>
              </a:ext>
            </a:extLst>
          </p:cNvPr>
          <p:cNvSpPr txBox="1"/>
          <p:nvPr/>
        </p:nvSpPr>
        <p:spPr>
          <a:xfrm>
            <a:off x="698500" y="660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200">
                <a:solidFill>
                  <a:srgbClr val="8892B0"/>
                </a:solidFill>
                <a:latin typeface="Segoe UI" panose="020B0502040204020203" pitchFamily="34" charset="0"/>
              </a:rPr>
              <a:t>Lecciones aprendidas, continuidad operacional y sello valÃ³rico institucional</a:t>
            </a:r>
            <a:endParaRPr lang="es-CL" sz="1200">
              <a:solidFill>
                <a:srgbClr val="8892B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913C86-15A1-B8D0-0A06-FCA768F31C02}"/>
              </a:ext>
            </a:extLst>
          </p:cNvPr>
          <p:cNvSpPr/>
          <p:nvPr/>
        </p:nvSpPr>
        <p:spPr>
          <a:xfrm>
            <a:off x="762000" y="1397000"/>
            <a:ext cx="5080000" cy="4699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1CD7E7-2F78-9F6A-B194-49264E1DC926}"/>
              </a:ext>
            </a:extLst>
          </p:cNvPr>
          <p:cNvSpPr txBox="1"/>
          <p:nvPr/>
        </p:nvSpPr>
        <p:spPr>
          <a:xfrm>
            <a:off x="1016000" y="1651000"/>
            <a:ext cx="4572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FFFFFF"/>
                </a:solidFill>
                <a:latin typeface="Segoe UI" panose="020B0502040204020203" pitchFamily="34" charset="0"/>
              </a:rPr>
              <a:t>CONCLUSIONES PRINCIPALES
â€¢ Continuidad Garantizada: El computador y el sistema se encuentran 100% operativos, estables y protegidos ante fallos de conectividad.
â€¢ Eficiencia en RRHH: La exportaciÃ³n nativa a Excel automatiza el cÃ¡lculo de liquidaciones reduciendo tiempos administrativos.
â€¢ Sello ValÃ³rico Tomista: La Excelencia y Esfuerzo en el cÃ³digo riguroso, junto a la Fraternidad y Solidaridad en la coordinaciÃ³n grupal, superaron las malas prÃ¡cticas evidenciadas en el caso.</a:t>
            </a:r>
            <a:endParaRPr lang="es-CL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826B3A-184A-D960-0CB6-6D8520A601C2}"/>
              </a:ext>
            </a:extLst>
          </p:cNvPr>
          <p:cNvSpPr/>
          <p:nvPr/>
        </p:nvSpPr>
        <p:spPr>
          <a:xfrm>
            <a:off x="6350000" y="1397000"/>
            <a:ext cx="5080000" cy="46990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081562-2D3E-EA07-46F0-545E0E83A590}"/>
              </a:ext>
            </a:extLst>
          </p:cNvPr>
          <p:cNvSpPr txBox="1"/>
          <p:nvPr/>
        </p:nvSpPr>
        <p:spPr>
          <a:xfrm>
            <a:off x="6604000" y="1651000"/>
            <a:ext cx="4572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CL" sz="1300">
                <a:solidFill>
                  <a:srgbClr val="FFFFFF"/>
                </a:solidFill>
                <a:latin typeface="Segoe UI" panose="020B0502040204020203" pitchFamily="34" charset="0"/>
              </a:rPr>
              <a:t>OPORTUNIDADES DE MEJORA
â€¢ SincronizaciÃ³n Cloud HÃ­brida: Sincronizar periÃ³dicamente la base local SQLite con una instancia centralizada en Azure SQL o PostgreSQL.
â€¢ Marcaje FÃ­sico / RFID: Integrar lectores de credenciales RFID o biomÃ©tricos para hacer aÃºn mÃ¡s Ã¡gil el flujo de entrada.
â€¢ Alertas AutomÃ¡ticas por Correo: NotificaciÃ³n inmediata a supervisores ante atrasos reiterados o inasistencias injustificadas.
â€¢ Instalador MSIX / Inno Setup: Empaquetar prerrequisitos para despliegue automatizado en nuevas sucursales.</a:t>
            </a:r>
          </a:p>
        </p:txBody>
      </p:sp>
    </p:spTree>
    <p:extLst>
      <p:ext uri="{BB962C8B-B14F-4D97-AF65-F5344CB8AC3E}">
        <p14:creationId xmlns:p14="http://schemas.microsoft.com/office/powerpoint/2010/main" val="1641411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Microsoft Office PowerPoint</Application>
  <PresentationFormat>Personalizado</PresentationFormat>
  <Paragraphs>114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CHRISTOPHER FERRADA LARA</dc:creator>
  <cp:lastModifiedBy>PAUL CHRISTOPHER FERRADA LARA</cp:lastModifiedBy>
  <cp:revision>1</cp:revision>
  <dcterms:created xsi:type="dcterms:W3CDTF">2026-10-22T00:39:07Z</dcterms:created>
  <dcterms:modified xsi:type="dcterms:W3CDTF">2026-10-22T00:39:07Z</dcterms:modified>
</cp:coreProperties>
</file>